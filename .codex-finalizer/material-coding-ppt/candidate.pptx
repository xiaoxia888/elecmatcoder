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8e915808a646ca" /><Relationship Type="http://schemas.openxmlformats.org/officeDocument/2006/relationships/extended-properties" Target="/docProps/app.xml" Id="R1f457b03f2994f27" /><Relationship Type="http://schemas.openxmlformats.org/officeDocument/2006/relationships/officeDocument" Target="/ppt/presentation.xml" Id="Rbbbb0b8fb0574f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08de997fe74c2d"/>
  </p:sldMasterIdLst>
  <p:notesMasterIdLst>
    <p:notesMasterId xmlns:r="http://schemas.openxmlformats.org/officeDocument/2006/relationships" r:id="R0124e504de2141d8"/>
  </p:notesMasterIdLst>
  <p:sldIdLst>
    <p:sldId xmlns:r="http://schemas.openxmlformats.org/officeDocument/2006/relationships" id="256" r:id="R37c40812059f47ec"/>
    <p:sldId xmlns:r="http://schemas.openxmlformats.org/officeDocument/2006/relationships" id="257" r:id="Ra4c3283f39f44963"/>
    <p:sldId xmlns:r="http://schemas.openxmlformats.org/officeDocument/2006/relationships" id="258" r:id="Rdd25b52188ef40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c5e11683b34b3a" /><Relationship Type="http://schemas.openxmlformats.org/officeDocument/2006/relationships/slideMaster" Target="/ppt/slideMasters/slideMaster1.xml" Id="R4408de997fe74c2d" /><Relationship Type="http://schemas.openxmlformats.org/officeDocument/2006/relationships/notesMaster" Target="/ppt/notesMasters/notesMaster1.xml" Id="R0124e504de2141d8" /><Relationship Type="http://schemas.openxmlformats.org/officeDocument/2006/relationships/presProps" Target="/ppt/presProps.xml" Id="R4db760a1152746ca" /><Relationship Type="http://schemas.openxmlformats.org/officeDocument/2006/relationships/tableStyles" Target="/ppt/tableStyles.xml" Id="R87ea8ccb803940c5" /><Relationship Type="http://schemas.openxmlformats.org/officeDocument/2006/relationships/slide" Target="/ppt/slides/slide1.xml" Id="R37c40812059f47ec" /><Relationship Type="http://schemas.openxmlformats.org/officeDocument/2006/relationships/slide" Target="/ppt/slides/slide2.xml" Id="Ra4c3283f39f44963" /><Relationship Type="http://schemas.openxmlformats.org/officeDocument/2006/relationships/slide" Target="/ppt/slides/slide3.xml" Id="Rdd25b52188ef40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acd0ee4e5042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dcb148e45d4b3e" /><Relationship Type="http://schemas.openxmlformats.org/officeDocument/2006/relationships/notesMaster" Target="/ppt/notesMasters/notesMaster1.xml" Id="R1f9b5c1db8994c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ad7e6f8c844ff0" /><Relationship Type="http://schemas.openxmlformats.org/officeDocument/2006/relationships/notesMaster" Target="/ppt/notesMasters/notesMaster1.xml" Id="R712f51f5dae342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69522e783544be" /><Relationship Type="http://schemas.openxmlformats.org/officeDocument/2006/relationships/notesMaster" Target="/ppt/notesMasters/notesMaster1.xml" Id="Rea2396b406ae4b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接收业务中的材料描述，先完成格式规范化，再由领域模型提取材料种类、材质标准、尺寸等关键字段。模型输出不会直接作为最终编码，而是交给确定性的编码规则进行规范化和拼接。对于置信度较低或存在异常的数据，平台提供人工复核入口，从而兼顾处理效率和编码准确性。右侧区域可替换为实际平台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数据采用教师模型预标注和人工审核相结合的方式制作。教师模型先完成大批量样本的初步识别，程序再执行格式校验、重复清理和冲突检测。人工审核集中处理不确定样本和复杂描述。审核后的结果进入标准训练集，同时持续回流样本库，为后续训练提供更可靠的数据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本次以 Qwen3.5-9B 为基座，使用 Unsloth 框架进行 LoRA SFT 微调。训练集为 69,719 条，验证集为 7,749 条，共训练一个轮次、4,358 步。LoRA 实际训练的参数约为 2,910 万，仅占模型总参数的 0.31%。最佳验证损失达到 0.000766，相比第一次验证下降约 61.2%。当前没有独立测试集上的 F1、准确率和召回率，因此本页不展示这些指标。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a621d695b47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1c7d480a414244" /><Relationship Type="http://schemas.openxmlformats.org/officeDocument/2006/relationships/slideLayout" Target="/ppt/slideLayouts/slideLayout1.xml" Id="R2900b30a0b1242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00b30a0b1242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5badbb8084c32" /><Relationship Type="http://schemas.openxmlformats.org/officeDocument/2006/relationships/notesSlide" Target="/ppt/notesSlides/notesSlide1.xml" Id="Rbbd5770438e747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7c5baf0314503" /><Relationship Type="http://schemas.openxmlformats.org/officeDocument/2006/relationships/notesSlide" Target="/ppt/notesSlides/notesSlide2.xml" Id="R1d95a3accac940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1484031ff4efd" /><Relationship Type="http://schemas.openxmlformats.org/officeDocument/2006/relationships/chart" Target="/ppt/slides/charts/chart1.xml" Id="R953bf37dd01343cf" /><Relationship Type="http://schemas.openxmlformats.org/officeDocument/2006/relationships/notesSlide" Target="/ppt/notesSlides/notesSlide3.xml" Id="R7c4486d005144a15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验证损失随训练步数下降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0">
              <a:solidFill>
                <a:srgbClr val="4B5870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Eval loss</c:v>
          </c:tx>
          <c:spPr>
            <a:ln xmlns:a="http://schemas.openxmlformats.org/drawingml/2006/main" w="28575">
              <a:solidFill>
                <a:srgbClr val="2F6BF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2F6BFF"/>
              </a:solidFill>
            </c:spPr>
          </c:marker>
          <c:cat>
            <c:numLit>
              <c:formatCode>General</c:formatCode>
              <c:ptCount val="5"/>
              <c:pt idx="0">
                <c:v>1000</c:v>
              </c:pt>
              <c:pt idx="1">
                <c:v>2000</c:v>
              </c:pt>
              <c:pt idx="2">
                <c:v>3000</c:v>
              </c:pt>
              <c:pt idx="3">
                <c:v>4000</c:v>
              </c:pt>
              <c:pt idx="4">
                <c:v>4358</c:v>
              </c:pt>
            </c:numLit>
          </c:cat>
          <c:val>
            <c:numLit>
              <c:formatCode>0.0000</c:formatCode>
              <c:ptCount val="5"/>
              <c:pt idx="0">
                <c:v>0.00197221455</c:v>
              </c:pt>
              <c:pt idx="1">
                <c:v>0.00111917942</c:v>
              </c:pt>
              <c:pt idx="2">
                <c:v>0.00094127137</c:v>
              </c:pt>
              <c:pt idx="3">
                <c:v>0.00077259756</c:v>
              </c:pt>
              <c:pt idx="4">
                <c:v>0.00076551776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4B5870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训练步数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0.0021"/>
          <c:min val="0.000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验证损失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.0000"/>
        <c:majorTickMark val="none"/>
        <c:minorTickMark val="none"/>
        <c:spPr>
          <a:ln xmlns:a="http://schemas.openxmlformats.org/drawingml/2006/main" w="9525">
            <a:solidFill>
              <a:srgbClr val="DCE3E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0003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CE3E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F1DBF4-CA0B-44F1-975D-567D6D18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21F75-3AFF-4F33-B809-51FB330A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3400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CC200-FF7A-4315-AD26-E0FFAE08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A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2A4A"/>
                </a:solidFill>
                <a:latin typeface="PingFang SC"/>
                <a:ea typeface="PingFang SC"/>
                <a:cs typeface="PingFang SC"/>
              </a:rPr>
              <a:t>材料编码智能平台实现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A4D3C-0A15-4B1F-A02C-A6D18ED8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从原始材料描述到结构化字段与标准编码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E03FA-202F-4203-8202-FA5DF2E2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"/>
            <a:ext cx="1885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9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D899D"/>
                </a:solidFill>
                <a:latin typeface="PingFang SC"/>
                <a:ea typeface="PingFang SC"/>
                <a:cs typeface="PingFang SC"/>
              </a:rPr>
              <a:t>材料编码项目汇报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E017D-6A3E-4570-9B5B-01BAD444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模型理解描述，规则生成编码，人工处理异常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4173D-D286-46B5-931E-2F7ADCDB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645AC-BCE5-42DD-A59D-9FE008E3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69126-CEBA-4319-940C-61CE4577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批量接入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9D90A-484E-421E-989E-E455D450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336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支持 Excel、CSV 等业务数据批量导入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E38FC-0DCE-4F60-B3F5-014B261E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6A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29AB3-B289-4E4D-8364-6F83F00D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A286C-D7AC-4137-BBF5-755A0372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结构化识别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29CE8-C1C2-4DB3-97B1-D30F4204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99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提取种类、材质、规范、尺寸和压力等级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B090C-EAF1-4C36-8215-EC77186B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13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AC39C-8AA2-41BC-8DA3-3C7272E0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3E851-5617-4A4E-BEE9-02FF4089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规则编码与复核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F5E12-1BC2-4423-8C41-FB6C9DAD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862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编码规则完成拼接，异常结果进入人工复核</a:t>
            </a:r>
          </a:p>
        </p:txBody>
      </p:sp>
      <p:sp>
        <p:nvSpPr>
          <p:cNvPr id="19" name="platform-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3EB8657B-A91E-47E3-8437-F3442F4A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52625"/>
            <a:ext cx="44196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B03C5-5C06-4FD2-8B73-3D72EFAC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52625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A4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F3A9E-C292-4771-A235-F3B1A810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66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0C0AB-8956-4ADC-A579-C2BA9332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66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498D3-A095-4490-94B1-0A244141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66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D39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1B3E5-55FF-4281-9801-0276A88A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A4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52A4A"/>
                </a:solidFill>
                <a:latin typeface="PingFang SC"/>
                <a:ea typeface="PingFang SC"/>
                <a:cs typeface="PingFang SC"/>
              </a:rPr>
              <a:t>平台界面截图预留区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E06F47-D912-426C-AB09-06052E15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建议替换为包含原始描述、识别字段、最终编码</a:t>
            </a:r>
          </a:p>
          <a:p xmlns:a="http://schemas.openxmlformats.org/drawingml/2006/main">
            <a:pPr algn="ctr">
              <a:defRPr sz="1125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和人工复核入口的实际操作截图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861971-7B43-488D-AB5B-2690DA70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383">
            <a:solidFill>
              <a:srgbClr val="2F6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F3622-1060-40B5-B022-5B346C07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数据导入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14767A-C587-48B6-8422-A0CEDF13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53402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ED12FD-1D9E-43AD-BED7-8D7E4FD6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10200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5D8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F0C62E-5B86-46FC-AB17-ED518885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05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D8B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8BFF"/>
                </a:solidFill>
                <a:latin typeface="PingFang SC"/>
                <a:ea typeface="PingFang SC"/>
                <a:cs typeface="PingFang SC"/>
              </a:rPr>
              <a:t>描述规范化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F63918-8541-407E-B4DF-05BD12F0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3402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8F5BC9-6A5F-451A-987F-8C157860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10200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383">
            <a:solidFill>
              <a:srgbClr val="23A6A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686E03-BA51-44D7-8747-3DA4ABFC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05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A6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A6A8"/>
                </a:solidFill>
                <a:latin typeface="PingFang SC"/>
                <a:ea typeface="PingFang SC"/>
                <a:cs typeface="PingFang SC"/>
              </a:rPr>
              <a:t>模型识别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D509E9-9D71-485C-9527-0F79AAE7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3402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5B92E4-1902-4B01-8BC0-C52E4667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10200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2A13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3767E8-461B-4691-882B-9F547A92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05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A1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2A13A"/>
                </a:solidFill>
                <a:latin typeface="PingFang SC"/>
                <a:ea typeface="PingFang SC"/>
                <a:cs typeface="PingFang SC"/>
              </a:rPr>
              <a:t>编码生成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8B6F51-E2F0-4BB3-9F8B-C9EA8CF9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53402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29ACF2-7845-4CBD-88CE-F32C941E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10200"/>
            <a:ext cx="1428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2383">
            <a:solidFill>
              <a:srgbClr val="152A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D26C8C-5040-46B6-9D11-A3E75036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05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A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2A4A"/>
                </a:solidFill>
                <a:latin typeface="PingFang SC"/>
                <a:ea typeface="PingFang SC"/>
                <a:cs typeface="PingFang SC"/>
              </a:rPr>
              <a:t>人工复核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C084FE-F46C-42C2-AD9A-AA6CC527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AA1321-0422-4D69-ABBF-4829EFE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模型负责语义识别，编码规则保证结果稳定，人工复核处理异常数据</a:t>
            </a:r>
          </a:p>
        </p:txBody>
      </p:sp>
    </p:spTree>
    <p:extLst>
      <p:ext uri="{BB962C8B-B14F-4D97-AF65-F5344CB8AC3E}">
        <p14:creationId xmlns:p14="http://schemas.microsoft.com/office/powerpoint/2010/main" val="57974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974719-3E4F-47EB-BDC4-F379CA2D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54CF1-6D17-439F-9C32-1B71F20A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3400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B11F3-8545-488A-B581-71B50165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A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2A4A"/>
                </a:solidFill>
                <a:latin typeface="PingFang SC"/>
                <a:ea typeface="PingFang SC"/>
                <a:cs typeface="PingFang SC"/>
              </a:rPr>
              <a:t>教师模型与人工复核协同构建训练数据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D61D0-BD67-47BB-B1D6-46EF27EB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自动预标注提升效率，人工审核保证关键标签可靠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B8B84-AC80-4F5F-8C4F-DA39F7EC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"/>
            <a:ext cx="1885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9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D899D"/>
                </a:solidFill>
                <a:latin typeface="PingFang SC"/>
                <a:ea typeface="PingFang SC"/>
                <a:cs typeface="PingFang SC"/>
              </a:rPr>
              <a:t>材料编码项目汇报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5CDFC-BACB-4CE3-A8AA-63345BAE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A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A4A"/>
                </a:solidFill>
                <a:latin typeface="PingFang SC"/>
                <a:ea typeface="PingFang SC"/>
                <a:cs typeface="PingFang SC"/>
              </a:rPr>
              <a:t>训练数据制作流程</a:t>
            </a:r>
          </a:p>
        </p:txBody>
      </p:sp>
      <p:sp>
        <p:nvSpPr>
          <p:cNvPr id="7" name="dataset-stage-1">
            <a:extLst xmlns:a="http://schemas.openxmlformats.org/drawingml/2006/main">
              <a:ext uri="{FF2B5EF4-FFF2-40B4-BE49-F238E27FC236}">
                <a16:creationId xmlns:a16="http://schemas.microsoft.com/office/drawing/2014/main" id="{04E55759-737D-4943-9C30-C7DF5621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1336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0B301-85FA-4B77-A27F-105B014D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0394D-D8E2-4F03-AB02-4E7D89B3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业务数据汇集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C3DA8-0D17-43B1-8730-6F302ACD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历史材料库与业务表单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65916-0C8C-43D8-8358-50FFBCF9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289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2" name="dataset-stage-2">
            <a:extLst xmlns:a="http://schemas.openxmlformats.org/drawingml/2006/main">
              <a:ext uri="{FF2B5EF4-FFF2-40B4-BE49-F238E27FC236}">
                <a16:creationId xmlns:a16="http://schemas.microsoft.com/office/drawing/2014/main" id="{378D325F-5933-4686-92E1-195D99E4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21336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3335">
            <a:solidFill>
              <a:srgbClr val="23A6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648D9-0392-43EE-A001-964C4881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47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A6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A6A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794BC-64C0-41F6-9148-3186AAB8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194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教师模型预标注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74385-A811-4502-8BFD-7D5D2510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004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生成结构化字段与标签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3A7D2-D3C7-4401-9F3D-F8784711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289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7" name="dataset-stage-3">
            <a:extLst xmlns:a="http://schemas.openxmlformats.org/drawingml/2006/main">
              <a:ext uri="{FF2B5EF4-FFF2-40B4-BE49-F238E27FC236}">
                <a16:creationId xmlns:a16="http://schemas.microsoft.com/office/drawing/2014/main" id="{AD9F8AE3-AC7D-477A-B5B6-881B6AD2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336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13335">
            <a:solidFill>
              <a:srgbClr val="F2A1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68FDD-D0D9-46C7-9995-4ADB764D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A1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2A13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700FD-5AAA-4E27-BBD8-8954E8A2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194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自动校验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97C8C-62D1-46F1-A31B-6E100AE3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格式、重复与冲突检查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CADFC7-5CFA-40C2-8959-BB1B1E3B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0289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2" name="dataset-stage-4">
            <a:extLst xmlns:a="http://schemas.openxmlformats.org/drawingml/2006/main">
              <a:ext uri="{FF2B5EF4-FFF2-40B4-BE49-F238E27FC236}">
                <a16:creationId xmlns:a16="http://schemas.microsoft.com/office/drawing/2014/main" id="{56CFC14A-304C-4572-AD76-3701583D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21336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3335">
            <a:solidFill>
              <a:srgbClr val="152A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183367-54CB-4083-B486-6A8A062A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A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2A4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BF5EE-EB48-4497-9F30-F848975D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194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人工复核定稿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5215F2-22B3-44C0-B493-A1DF5C01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004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修正不确定与复杂样本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7618F4-EA82-43BA-AD62-42AC29A2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A4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2A4A"/>
                </a:solidFill>
                <a:latin typeface="PingFang SC"/>
                <a:ea typeface="PingFang SC"/>
                <a:cs typeface="PingFang SC"/>
              </a:rPr>
              <a:t>质量控制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AB25AA-0775-4614-9890-6BA8EC74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1485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F6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E6E316-1D35-41DF-9053-814D087C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格式统一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82F30B-4AA7-4AF3-BB63-6251443B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720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统一字段结构、单位和标签表达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7F882D-6380-43EA-B7D2-27593BC1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1485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3A6A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3BC401-3E22-4D72-BBDE-1E78CDE4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重复清理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52A8DC-5AD6-4FC9-B3AE-A6EDBAF2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720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同一描述与同一标签仅保留一条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4ECD1C-A743-4CF1-8878-32FA13E6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A1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C193A2-21E0-4669-8915-ED27A4E4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67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冲突复核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B1F77B-9335-4D46-B0E3-272A9B9E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720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标签冲突样本交由人工确认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BC0605-44FB-478D-AA12-65183468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8096250" cy="1428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A6A8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957665-3AF6-4A0A-A09B-E7880C0A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76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3A6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A6A8"/>
                </a:solidFill>
                <a:latin typeface="PingFang SC"/>
                <a:ea typeface="PingFang SC"/>
                <a:cs typeface="PingFang SC"/>
              </a:rPr>
              <a:t>审核结果回流样本库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C3D958-95BC-45F2-B44A-0C242E37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1C5C06-3634-4ACB-A102-94DAF1FA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教师模型承担批量预标注，人工审核聚焦不确定样本，形成可持续迭代的数据闭环</a:t>
            </a:r>
          </a:p>
        </p:txBody>
      </p:sp>
    </p:spTree>
    <p:extLst>
      <p:ext uri="{BB962C8B-B14F-4D97-AF65-F5344CB8AC3E}">
        <p14:creationId xmlns:p14="http://schemas.microsoft.com/office/powerpoint/2010/main" val="3588084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54B6D4-24F2-4F28-B363-DFC5F439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857DB-B3E5-4106-8797-35830673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3400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A4B51-AAA1-4EC2-8317-82F2F5F8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A4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52A4A"/>
                </a:solidFill>
                <a:latin typeface="PingFang SC"/>
                <a:ea typeface="PingFang SC"/>
                <a:cs typeface="PingFang SC"/>
              </a:rPr>
              <a:t>基于 Unsloth 的 LoRA SFT 微调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7EBF5-BDF7-4C31-8729-D2BAA7C2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以 Qwen3.5-9B 材质规范模型为例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F7C71-A321-4461-8422-EAC2E294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"/>
            <a:ext cx="1885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D89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D899D"/>
                </a:solidFill>
                <a:latin typeface="PingFang SC"/>
                <a:ea typeface="PingFang SC"/>
                <a:cs typeface="PingFang SC"/>
              </a:rPr>
              <a:t>材料编码项目汇报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A4FFA-EA42-4865-9D8A-5BFED6C3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A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A4A"/>
                </a:solidFill>
                <a:latin typeface="PingFang SC"/>
                <a:ea typeface="PingFang SC"/>
                <a:cs typeface="PingFang SC"/>
              </a:rPr>
              <a:t>微调方案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CDF4E-3764-4503-A0FD-DEBDB4AF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D899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D899D"/>
                </a:solidFill>
                <a:latin typeface="PingFang SC"/>
                <a:ea typeface="PingFang SC"/>
                <a:cs typeface="PingFang SC"/>
              </a:rPr>
              <a:t>基础模型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7EEB2-38DC-41BA-B54C-C3943301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62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Qwen3.5-9B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EE713-6347-45A1-9535-7B4F07C6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695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E4060-1A8F-4959-8BB8-53B49816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D899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D899D"/>
                </a:solidFill>
                <a:latin typeface="PingFang SC"/>
                <a:ea typeface="PingFang SC"/>
                <a:cs typeface="PingFang SC"/>
              </a:rPr>
              <a:t>训练框架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96CE0-12C7-4569-8A0A-B5772AE4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76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Unsloth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0CE84-D03A-4EF0-BF36-737E6DA2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695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BB4DA-4A59-49E1-BBC9-6126AA72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D899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D899D"/>
                </a:solidFill>
                <a:latin typeface="PingFang SC"/>
                <a:ea typeface="PingFang SC"/>
                <a:cs typeface="PingFang SC"/>
              </a:rPr>
              <a:t>微调方式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981C6-2571-4ADF-AE99-2C56920E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90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LoRA SFT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A7477-E344-4C72-8FF6-875E238C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695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9C874-7D66-4FB3-B005-264635EC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D899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D899D"/>
                </a:solidFill>
                <a:latin typeface="PingFang SC"/>
                <a:ea typeface="PingFang SC"/>
                <a:cs typeface="PingFang SC"/>
              </a:rPr>
              <a:t>训练数据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F2257-150D-463B-9AFC-E480CD96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77,468 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F710F-39C5-46E5-9B78-939DA800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3695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15969-A4E8-461A-80B7-528AB455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D899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D899D"/>
                </a:solidFill>
                <a:latin typeface="PingFang SC"/>
                <a:ea typeface="PingFang SC"/>
                <a:cs typeface="PingFang SC"/>
              </a:rPr>
              <a:t>训练过程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7E59B-6296-420D-88D7-0C7C4ADE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 Epoch / 4,358 Steps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CC47B-C9B1-41EE-83A4-85D082B3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695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9966A-2E26-4A70-92C8-6262FC71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训练集 69,719 条，验证集 7,749 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47EF8-B4D8-4E51-857D-79C9763F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66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A4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A4A"/>
                </a:solidFill>
                <a:latin typeface="PingFang SC"/>
                <a:ea typeface="PingFang SC"/>
                <a:cs typeface="PingFang SC"/>
              </a:rPr>
              <a:t>验证损失</a:t>
            </a:r>
          </a:p>
        </p:txBody>
      </p:sp>
      <p:graphicFrame>
        <p:nvGraphicFramePr>
          <p:cNvPr id="58" name="Chart"/>
          <p:cNvGraphicFramePr/>
          <p:nvPr/>
        </p:nvGraphicFramePr>
        <p:xfrm>
          <a:off xmlns:a="http://schemas.openxmlformats.org/drawingml/2006/main" x="4857750" y="2190750"/>
          <a:ext xmlns:a="http://schemas.openxmlformats.org/drawingml/2006/main" cx="66484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3bf37dd01343cf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EA4E26-6450-4422-871B-65A3517D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67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0.000766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8C022F-809A-4A0F-91DA-876E8EB9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6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最佳验证损失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6F35E8-1792-453A-9549-CFCCFA90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43550"/>
            <a:ext cx="0" cy="4953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873F10-2559-4BC7-B7BA-AB380842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467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A6A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A6A8"/>
                </a:solidFill>
                <a:latin typeface="PingFang SC"/>
                <a:ea typeface="PingFang SC"/>
                <a:cs typeface="PingFang SC"/>
              </a:rPr>
              <a:t>61.2%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01D46-9F0C-42B3-AC1A-6A516251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6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验证损失下降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02597E-FF96-4FD3-A87A-AFB4E042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543550"/>
            <a:ext cx="0" cy="4953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A37615-4473-4B87-9F0D-22476E17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67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A13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2A13A"/>
                </a:solidFill>
                <a:latin typeface="PingFang SC"/>
                <a:ea typeface="PingFang SC"/>
                <a:cs typeface="PingFang SC"/>
              </a:rPr>
              <a:t>0.31%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576ADC-457F-4F0C-83E8-FF593E87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86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可训练参数占比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78B1C1-5520-48BF-800A-44F50E44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6ADB9D-6AE6-4333-987D-EA5F391D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B5870"/>
                </a:solidFill>
                <a:latin typeface="PingFang SC"/>
                <a:ea typeface="PingFang SC"/>
                <a:cs typeface="PingFang SC"/>
              </a:rPr>
              <a:t>LoRA 仅训练约 0.31% 的模型参数，最佳验证结果出现在第 4,358 步</a:t>
            </a:r>
          </a:p>
        </p:txBody>
      </p:sp>
    </p:spTree>
    <p:extLst>
      <p:ext uri="{BB962C8B-B14F-4D97-AF65-F5344CB8AC3E}">
        <p14:creationId xmlns:p14="http://schemas.microsoft.com/office/powerpoint/2010/main" val="873794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2026-09-16T06:07:28.6820000Z</dcterms:created>
  <dcterms:modified xsi:type="dcterms:W3CDTF">2026-09-16T06:07:28.6820000Z</dcterms:modified>
</coreProperties>
</file>